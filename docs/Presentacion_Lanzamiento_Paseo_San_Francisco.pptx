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sf_email_banner_17899994042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5943600" cy="33173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80160"/>
            <a:ext cx="475488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rPr dirty="0"/>
              <a:t>PASEO SAN FRANCISCO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Georgia"/>
              </a:defRPr>
            </a:pPr>
            <a:r>
              <a:rPr dirty="0" err="1"/>
              <a:t>Transformación</a:t>
            </a:r>
            <a:r>
              <a:rPr dirty="0"/>
              <a:t> Digital &amp;</a:t>
            </a:r>
            <a:br>
              <a:rPr dirty="0"/>
            </a:br>
            <a:r>
              <a:rPr dirty="0" err="1"/>
              <a:t>Eficiencia</a:t>
            </a:r>
            <a:r>
              <a:rPr dirty="0"/>
              <a:t> </a:t>
            </a:r>
            <a:r>
              <a:rPr dirty="0" err="1"/>
              <a:t>Operativa</a:t>
            </a:r>
            <a:endParaRPr dirty="0"/>
          </a:p>
          <a:p>
            <a:pPr>
              <a:spcAft>
                <a:spcPts val="2400"/>
              </a:spcAft>
              <a:defRPr sz="1500">
                <a:solidFill>
                  <a:srgbClr val="A0AEC0"/>
                </a:solidFill>
                <a:latin typeface="Calibri"/>
              </a:defRPr>
            </a:pPr>
            <a:r>
              <a:rPr dirty="0" err="1"/>
              <a:t>Lanzamiento</a:t>
            </a:r>
            <a:r>
              <a:rPr dirty="0"/>
              <a:t> de la Plataforma </a:t>
            </a:r>
            <a:r>
              <a:rPr dirty="0" err="1"/>
              <a:t>Institucional</a:t>
            </a:r>
            <a:br>
              <a:rPr dirty="0"/>
            </a:br>
            <a:r>
              <a:rPr dirty="0"/>
              <a:t>Tickets · Noticias · </a:t>
            </a:r>
            <a:r>
              <a:rPr dirty="0" err="1"/>
              <a:t>Documentos</a:t>
            </a:r>
            <a:r>
              <a:rPr dirty="0"/>
              <a:t> · PACO 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CONTEXTO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El Reto de la Gestión Descentralizada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¿Por qué transformar nuestros canales tradicionales de atención y comunicación?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SOLICITUDES DISPERSAS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Falta de Trazabilidad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Requerimientos perdidos en WhatsApp, pasillos o correos personales. Sin responsables definidos ni tiempos de respuesta garantizados.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FORMATOS OBSOLETOS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Riesgo Administrativo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Colaboradores utilizando versiones antiguas de formatos y políticas. Retrabajos innecesarios y falta de un repositorio oficial único.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COMUNICACIÓN SATURADA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Bajo Alcance Institucional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Avisos corporativos que se pierden entre decenas de correos diarios. Imposible medir quién leyó las normativas y novedades.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725912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🎯 Meta Principal: Centralizar el 100% de las solicitudes, documentos y avisos en un ecosistema auditable y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LA SOLUCIÓN INTEGRAL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Nuestra Plataforma Digital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Un ecosistema unificado para optimizar el servicio, la información, los documentos y las alertas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MÓDULO 1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Mesa de Ayuda &amp; Tickets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Registro ágil de solicitudes e incidencias</a:t>
            </a:r>
            <a:br/>
            <a:r>
              <a:t>• Prioridades (Urgente, Alta, Media, Baja)</a:t>
            </a:r>
            <a:br/>
            <a:r>
              <a:t>• Asignación automática por departamento</a:t>
            </a:r>
            <a:br/>
            <a:r>
              <a:t>• Trazabilidad y métricas SLA en vivo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4D399"/>
                </a:solidFill>
                <a:latin typeface="Calibri"/>
              </a:defRPr>
            </a:pPr>
            <a:r>
              <a:t>MÓDULO 2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Noticias &amp; Avisos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Muro institucional de comunicados</a:t>
            </a:r>
            <a:br/>
            <a:r>
              <a:t>• Segmentación por áreas y departamentos</a:t>
            </a:r>
            <a:br/>
            <a:r>
              <a:t>• Notificaciones en tiempo real</a:t>
            </a:r>
            <a:br/>
            <a:r>
              <a:t>• Confirmación y métricas de lectura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2103120"/>
            <a:ext cx="27797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084FC"/>
                </a:solidFill>
                <a:latin typeface="Calibri"/>
              </a:defRPr>
            </a:pPr>
            <a:r>
              <a:t>MÓDULO 3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Gestor Documental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Única fuente oficial de verdad (Formatos)</a:t>
            </a:r>
            <a:br/>
            <a:r>
              <a:t>• Descarga de plantillas oficiales vigentes</a:t>
            </a:r>
            <a:br/>
            <a:r>
              <a:t>• Búsqueda instantánea con filtros</a:t>
            </a:r>
            <a:br/>
            <a:r>
              <a:t>• Control de acceso y versiones oficiales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97880"/>
            <a:ext cx="10725912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🔔 Notificaciones Multicanal Integradas: Alertas en tiempo real vía Web (Campanita), Correo Electrónico y Bot de Telegram PACO.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PROFUNDIZACIÓN MÓDULO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Mesa de Ayuda y Tickets de Soporte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Control total sobre requerimientos, tiempos de respuesta y carga de trabajo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28800"/>
            <a:ext cx="5166360" cy="43891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CARACTERÍSTICAS OPERATIVAS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✔ Flujo de Estados Transparente: </a:t>
            </a:r>
            <a:r>
              <a:rPr b="0">
                <a:solidFill>
                  <a:srgbClr val="A0AEC0"/>
                </a:solidFill>
              </a:rPr>
              <a:t>Abierto → En Progreso → Resuelto → Cerrado.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✔ Acuerdos de Nivel de Servicio (SLA): </a:t>
            </a:r>
            <a:r>
              <a:rPr b="0">
                <a:solidFill>
                  <a:srgbClr val="A0AEC0"/>
                </a:solidFill>
              </a:rPr>
              <a:t>Tiempos máximos de respuesta según urgencia.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✔ Asignación Inteligente: </a:t>
            </a:r>
            <a:r>
              <a:rPr b="0">
                <a:solidFill>
                  <a:srgbClr val="A0AEC0"/>
                </a:solidFill>
              </a:rPr>
              <a:t>Direccionamiento automático al técnico o área correspondiente.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✔ Historial &amp; Colaboración: </a:t>
            </a:r>
            <a:r>
              <a:rPr b="0">
                <a:solidFill>
                  <a:srgbClr val="A0AEC0"/>
                </a:solidFill>
              </a:rPr>
              <a:t>Registro auditable de comentarios, adjuntos y tiempos.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✔ Base de Conocimientos: </a:t>
            </a:r>
            <a:r>
              <a:rPr b="0">
                <a:solidFill>
                  <a:srgbClr val="A0AEC0"/>
                </a:solidFill>
              </a:rPr>
              <a:t>Casos resueltos se convierten en guías para acelerar soporte.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66360" cy="43891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Calibri"/>
              </a:defRPr>
            </a:pPr>
            <a:r>
              <a:rPr dirty="0"/>
              <a:t>VALOR PARA JEFATURAS Y DIRECCIÓN</a:t>
            </a:r>
          </a:p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rPr dirty="0"/>
              <a:t>★ </a:t>
            </a:r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Rendimiento</a:t>
            </a:r>
            <a:r>
              <a:rPr dirty="0"/>
              <a:t> Reales: </a:t>
            </a:r>
            <a:r>
              <a:rPr b="0" dirty="0">
                <a:solidFill>
                  <a:srgbClr val="A0AEC0"/>
                </a:solidFill>
              </a:rPr>
              <a:t>Saber con </a:t>
            </a:r>
            <a:r>
              <a:rPr b="0" dirty="0" err="1">
                <a:solidFill>
                  <a:srgbClr val="A0AEC0"/>
                </a:solidFill>
              </a:rPr>
              <a:t>precisión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cuántas</a:t>
            </a:r>
            <a:r>
              <a:rPr b="0" dirty="0">
                <a:solidFill>
                  <a:srgbClr val="A0AEC0"/>
                </a:solidFill>
              </a:rPr>
              <a:t> solicitudes </a:t>
            </a:r>
            <a:r>
              <a:rPr b="0" dirty="0" err="1">
                <a:solidFill>
                  <a:srgbClr val="A0AEC0"/>
                </a:solidFill>
              </a:rPr>
              <a:t>atiende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cada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área</a:t>
            </a:r>
            <a:r>
              <a:rPr b="0" dirty="0">
                <a:solidFill>
                  <a:srgbClr val="A0AEC0"/>
                </a:solidFill>
              </a:rPr>
              <a:t> al </a:t>
            </a:r>
            <a:r>
              <a:rPr b="0" dirty="0" err="1">
                <a:solidFill>
                  <a:srgbClr val="A0AEC0"/>
                </a:solidFill>
              </a:rPr>
              <a:t>mes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rPr dirty="0"/>
              <a:t>★ </a:t>
            </a:r>
            <a:r>
              <a:rPr dirty="0" err="1"/>
              <a:t>Detección</a:t>
            </a:r>
            <a:r>
              <a:rPr dirty="0"/>
              <a:t> de </a:t>
            </a:r>
            <a:r>
              <a:rPr dirty="0" err="1"/>
              <a:t>Cuellos</a:t>
            </a:r>
            <a:r>
              <a:rPr dirty="0"/>
              <a:t> de Botella: </a:t>
            </a:r>
            <a:r>
              <a:rPr b="0" dirty="0" err="1">
                <a:solidFill>
                  <a:srgbClr val="A0AEC0"/>
                </a:solidFill>
              </a:rPr>
              <a:t>Identificar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qué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procesos</a:t>
            </a:r>
            <a:r>
              <a:rPr b="0" dirty="0">
                <a:solidFill>
                  <a:srgbClr val="A0AEC0"/>
                </a:solidFill>
              </a:rPr>
              <a:t> o </a:t>
            </a:r>
            <a:r>
              <a:rPr b="0" dirty="0" err="1">
                <a:solidFill>
                  <a:srgbClr val="A0AEC0"/>
                </a:solidFill>
              </a:rPr>
              <a:t>equipos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generan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más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incidencias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rPr dirty="0"/>
              <a:t>★ </a:t>
            </a:r>
            <a:r>
              <a:rPr dirty="0" err="1"/>
              <a:t>Exportación</a:t>
            </a:r>
            <a:r>
              <a:rPr dirty="0"/>
              <a:t> Ejecutiva: </a:t>
            </a:r>
            <a:r>
              <a:rPr b="0" dirty="0" err="1">
                <a:solidFill>
                  <a:srgbClr val="A0AEC0"/>
                </a:solidFill>
              </a:rPr>
              <a:t>Descarga</a:t>
            </a:r>
            <a:r>
              <a:rPr b="0" dirty="0">
                <a:solidFill>
                  <a:srgbClr val="A0AEC0"/>
                </a:solidFill>
              </a:rPr>
              <a:t> de </a:t>
            </a:r>
            <a:r>
              <a:rPr b="0" dirty="0" err="1">
                <a:solidFill>
                  <a:srgbClr val="A0AEC0"/>
                </a:solidFill>
              </a:rPr>
              <a:t>reportes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detallados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en</a:t>
            </a:r>
            <a:r>
              <a:rPr b="0" dirty="0">
                <a:solidFill>
                  <a:srgbClr val="A0AEC0"/>
                </a:solidFill>
              </a:rPr>
              <a:t> Excel y PDF para </a:t>
            </a:r>
            <a:r>
              <a:rPr b="0" dirty="0" err="1">
                <a:solidFill>
                  <a:srgbClr val="A0AEC0"/>
                </a:solidFill>
              </a:rPr>
              <a:t>comités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rPr dirty="0"/>
              <a:t>★ </a:t>
            </a:r>
            <a:r>
              <a:rPr dirty="0" err="1"/>
              <a:t>Eliminación</a:t>
            </a:r>
            <a:r>
              <a:rPr dirty="0"/>
              <a:t> de la </a:t>
            </a:r>
            <a:r>
              <a:rPr dirty="0" err="1"/>
              <a:t>Informalidad</a:t>
            </a:r>
            <a:r>
              <a:rPr dirty="0"/>
              <a:t>: </a:t>
            </a:r>
            <a:r>
              <a:rPr b="0" dirty="0">
                <a:solidFill>
                  <a:srgbClr val="A0AEC0"/>
                </a:solidFill>
              </a:rPr>
              <a:t>Fin a las solicitudes </a:t>
            </a:r>
            <a:r>
              <a:rPr b="0" dirty="0" err="1">
                <a:solidFill>
                  <a:srgbClr val="A0AEC0"/>
                </a:solidFill>
              </a:rPr>
              <a:t>perdidas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en</a:t>
            </a:r>
            <a:r>
              <a:rPr b="0" dirty="0">
                <a:solidFill>
                  <a:srgbClr val="A0AEC0"/>
                </a:solidFill>
              </a:rPr>
              <a:t> pasillos o chats </a:t>
            </a:r>
            <a:r>
              <a:rPr b="0" dirty="0" err="1">
                <a:solidFill>
                  <a:srgbClr val="A0AEC0"/>
                </a:solidFill>
              </a:rPr>
              <a:t>personales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800"/>
              </a:spcAft>
              <a:defRPr sz="1300" b="1">
                <a:solidFill>
                  <a:srgbClr val="D4AF37"/>
                </a:solidFill>
                <a:latin typeface="Calibri"/>
              </a:defRPr>
            </a:pPr>
            <a:r>
              <a:rPr dirty="0"/>
              <a:t>★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Satisfacción</a:t>
            </a:r>
            <a:r>
              <a:rPr dirty="0"/>
              <a:t> Interna: </a:t>
            </a:r>
            <a:r>
              <a:rPr b="0" dirty="0">
                <a:solidFill>
                  <a:srgbClr val="A0AEC0"/>
                </a:solidFill>
              </a:rPr>
              <a:t>El </a:t>
            </a:r>
            <a:r>
              <a:rPr b="0" dirty="0" err="1">
                <a:solidFill>
                  <a:srgbClr val="A0AEC0"/>
                </a:solidFill>
              </a:rPr>
              <a:t>colaborador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siempre</a:t>
            </a:r>
            <a:r>
              <a:rPr b="0" dirty="0">
                <a:solidFill>
                  <a:srgbClr val="A0AEC0"/>
                </a:solidFill>
              </a:rPr>
              <a:t> sabe </a:t>
            </a:r>
            <a:r>
              <a:rPr b="0" dirty="0" err="1">
                <a:solidFill>
                  <a:srgbClr val="A0AEC0"/>
                </a:solidFill>
              </a:rPr>
              <a:t>quién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atiende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su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caso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PROFUNDIZACIÓN MÓDULOS 2 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Noticias Oficiales y Gestor Documental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Comunicación segmentada sin saturación y control estricto de formatos vigentes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28800"/>
            <a:ext cx="5166360" cy="43891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4D399"/>
                </a:solidFill>
                <a:latin typeface="Calibri"/>
              </a:defRPr>
            </a:pPr>
            <a:r>
              <a:t>NOTICIAS &amp; COMUNICACIÓN INTERNA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📰 Segmentación por Familias/Áreas</a:t>
            </a:r>
            <a:br/>
            <a:r>
              <a:rPr b="0">
                <a:solidFill>
                  <a:srgbClr val="A0AEC0"/>
                </a:solidFill>
              </a:rPr>
              <a:t>   Publicaciones generales o exclusivas para departamentos específicos.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📰 Notificaciones en Tiempo Real</a:t>
            </a:r>
            <a:br/>
            <a:r>
              <a:rPr b="0">
                <a:solidFill>
                  <a:srgbClr val="A0AEC0"/>
                </a:solidFill>
              </a:rPr>
              <a:t>   Alertas inmediatas en plataforma, correo y Bot de Telegram.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📰 Muro Multimedia Dinámico</a:t>
            </a:r>
            <a:br/>
            <a:r>
              <a:rPr b="0">
                <a:solidFill>
                  <a:srgbClr val="A0AEC0"/>
                </a:solidFill>
              </a:rPr>
              <a:t>   Soporte para imágenes, comunicados oficiales y documentos adjuntos.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📰 Trazabilidad de Alcance</a:t>
            </a:r>
            <a:br/>
            <a:r>
              <a:rPr b="0">
                <a:solidFill>
                  <a:srgbClr val="A0AEC0"/>
                </a:solidFill>
              </a:rPr>
              <a:t>   Control exacto de vistas y confirmaciones de lectura institucional.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66360" cy="43891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177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084FC"/>
                </a:solidFill>
                <a:latin typeface="Calibri"/>
              </a:defRPr>
            </a:pPr>
            <a:r>
              <a:rPr dirty="0"/>
              <a:t>GESTOR DOCUMENTAL Y FORMATOS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📂 </a:t>
            </a:r>
            <a:r>
              <a:rPr dirty="0" err="1"/>
              <a:t>Única</a:t>
            </a:r>
            <a:r>
              <a:rPr dirty="0"/>
              <a:t> Fuente </a:t>
            </a:r>
            <a:r>
              <a:rPr dirty="0" err="1"/>
              <a:t>Oficial</a:t>
            </a:r>
            <a:br>
              <a:rPr dirty="0"/>
            </a:br>
            <a:r>
              <a:rPr b="0" dirty="0">
                <a:solidFill>
                  <a:srgbClr val="A0AEC0"/>
                </a:solidFill>
              </a:rPr>
              <a:t>   Los </a:t>
            </a:r>
            <a:r>
              <a:rPr b="0" dirty="0" err="1">
                <a:solidFill>
                  <a:srgbClr val="A0AEC0"/>
                </a:solidFill>
              </a:rPr>
              <a:t>colaboradores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descargan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siempre</a:t>
            </a:r>
            <a:r>
              <a:rPr b="0" dirty="0">
                <a:solidFill>
                  <a:srgbClr val="A0AEC0"/>
                </a:solidFill>
              </a:rPr>
              <a:t> la </a:t>
            </a:r>
            <a:r>
              <a:rPr b="0" dirty="0" err="1">
                <a:solidFill>
                  <a:srgbClr val="A0AEC0"/>
                </a:solidFill>
              </a:rPr>
              <a:t>versión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vigente</a:t>
            </a:r>
            <a:r>
              <a:rPr b="0" dirty="0">
                <a:solidFill>
                  <a:srgbClr val="A0AEC0"/>
                </a:solidFill>
              </a:rPr>
              <a:t> del </a:t>
            </a:r>
            <a:r>
              <a:rPr b="0" dirty="0" err="1">
                <a:solidFill>
                  <a:srgbClr val="A0AEC0"/>
                </a:solidFill>
              </a:rPr>
              <a:t>formato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📂 </a:t>
            </a:r>
            <a:r>
              <a:rPr dirty="0" err="1"/>
              <a:t>Categorización</a:t>
            </a:r>
            <a:r>
              <a:rPr dirty="0"/>
              <a:t> </a:t>
            </a:r>
            <a:r>
              <a:rPr dirty="0" err="1"/>
              <a:t>Estructurada</a:t>
            </a:r>
            <a:br>
              <a:rPr dirty="0"/>
            </a:br>
            <a:r>
              <a:rPr b="0" dirty="0">
                <a:solidFill>
                  <a:srgbClr val="A0AEC0"/>
                </a:solidFill>
              </a:rPr>
              <a:t>   </a:t>
            </a:r>
            <a:r>
              <a:rPr b="0" dirty="0" err="1">
                <a:solidFill>
                  <a:srgbClr val="A0AEC0"/>
                </a:solidFill>
              </a:rPr>
              <a:t>Formatos</a:t>
            </a:r>
            <a:r>
              <a:rPr b="0" dirty="0">
                <a:solidFill>
                  <a:srgbClr val="A0AEC0"/>
                </a:solidFill>
              </a:rPr>
              <a:t> de RRHH, </a:t>
            </a:r>
            <a:r>
              <a:rPr b="0" dirty="0" err="1">
                <a:solidFill>
                  <a:srgbClr val="A0AEC0"/>
                </a:solidFill>
              </a:rPr>
              <a:t>Compras</a:t>
            </a:r>
            <a:r>
              <a:rPr b="0" dirty="0">
                <a:solidFill>
                  <a:srgbClr val="A0AEC0"/>
                </a:solidFill>
              </a:rPr>
              <a:t>, </a:t>
            </a:r>
            <a:r>
              <a:rPr b="0" dirty="0" err="1">
                <a:solidFill>
                  <a:srgbClr val="A0AEC0"/>
                </a:solidFill>
              </a:rPr>
              <a:t>Operaciones</a:t>
            </a:r>
            <a:r>
              <a:rPr b="0" dirty="0">
                <a:solidFill>
                  <a:srgbClr val="A0AEC0"/>
                </a:solidFill>
              </a:rPr>
              <a:t>, TI y </a:t>
            </a:r>
            <a:r>
              <a:rPr b="0" dirty="0" err="1">
                <a:solidFill>
                  <a:srgbClr val="A0AEC0"/>
                </a:solidFill>
              </a:rPr>
              <a:t>Mantenimiento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📂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Instantánea</a:t>
            </a:r>
            <a:br>
              <a:rPr dirty="0"/>
            </a:br>
            <a:r>
              <a:rPr b="0" dirty="0">
                <a:solidFill>
                  <a:srgbClr val="A0AEC0"/>
                </a:solidFill>
              </a:rPr>
              <a:t>   </a:t>
            </a:r>
            <a:r>
              <a:rPr b="0" dirty="0" err="1">
                <a:solidFill>
                  <a:srgbClr val="A0AEC0"/>
                </a:solidFill>
              </a:rPr>
              <a:t>Localización</a:t>
            </a:r>
            <a:r>
              <a:rPr b="0" dirty="0">
                <a:solidFill>
                  <a:srgbClr val="A0AEC0"/>
                </a:solidFill>
              </a:rPr>
              <a:t> de </a:t>
            </a:r>
            <a:r>
              <a:rPr b="0" dirty="0" err="1">
                <a:solidFill>
                  <a:srgbClr val="A0AEC0"/>
                </a:solidFill>
              </a:rPr>
              <a:t>plantillas</a:t>
            </a:r>
            <a:r>
              <a:rPr b="0" dirty="0">
                <a:solidFill>
                  <a:srgbClr val="A0AEC0"/>
                </a:solidFill>
              </a:rPr>
              <a:t> y </a:t>
            </a:r>
            <a:r>
              <a:rPr b="0" dirty="0" err="1">
                <a:solidFill>
                  <a:srgbClr val="A0AEC0"/>
                </a:solidFill>
              </a:rPr>
              <a:t>manuales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en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menos</a:t>
            </a:r>
            <a:r>
              <a:rPr b="0" dirty="0">
                <a:solidFill>
                  <a:srgbClr val="A0AEC0"/>
                </a:solidFill>
              </a:rPr>
              <a:t> de 5 </a:t>
            </a:r>
            <a:r>
              <a:rPr b="0" dirty="0" err="1">
                <a:solidFill>
                  <a:srgbClr val="A0AEC0"/>
                </a:solidFill>
              </a:rPr>
              <a:t>segundos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📂 </a:t>
            </a:r>
            <a:r>
              <a:rPr dirty="0" err="1"/>
              <a:t>Seguridad</a:t>
            </a:r>
            <a:r>
              <a:rPr dirty="0"/>
              <a:t> y </a:t>
            </a:r>
            <a:r>
              <a:rPr dirty="0" err="1"/>
              <a:t>Permisos</a:t>
            </a:r>
            <a:br>
              <a:rPr dirty="0"/>
            </a:br>
            <a:r>
              <a:rPr b="0" dirty="0">
                <a:solidFill>
                  <a:srgbClr val="A0AEC0"/>
                </a:solidFill>
              </a:rPr>
              <a:t>   </a:t>
            </a:r>
            <a:r>
              <a:rPr b="0" dirty="0" err="1">
                <a:solidFill>
                  <a:srgbClr val="A0AEC0"/>
                </a:solidFill>
              </a:rPr>
              <a:t>Visibilidad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restringida</a:t>
            </a:r>
            <a:r>
              <a:rPr b="0" dirty="0">
                <a:solidFill>
                  <a:srgbClr val="A0AEC0"/>
                </a:solidFill>
              </a:rPr>
              <a:t> </a:t>
            </a:r>
            <a:r>
              <a:rPr b="0" dirty="0" err="1">
                <a:solidFill>
                  <a:srgbClr val="A0AEC0"/>
                </a:solidFill>
              </a:rPr>
              <a:t>según</a:t>
            </a:r>
            <a:r>
              <a:rPr b="0" dirty="0">
                <a:solidFill>
                  <a:srgbClr val="A0AEC0"/>
                </a:solidFill>
              </a:rPr>
              <a:t> el </a:t>
            </a:r>
            <a:r>
              <a:rPr b="0" dirty="0" err="1">
                <a:solidFill>
                  <a:srgbClr val="A0AEC0"/>
                </a:solidFill>
              </a:rPr>
              <a:t>rol</a:t>
            </a:r>
            <a:r>
              <a:rPr b="0" dirty="0">
                <a:solidFill>
                  <a:srgbClr val="A0AEC0"/>
                </a:solidFill>
              </a:rPr>
              <a:t> y </a:t>
            </a:r>
            <a:r>
              <a:rPr b="0" dirty="0" err="1">
                <a:solidFill>
                  <a:srgbClr val="A0AEC0"/>
                </a:solidFill>
              </a:rPr>
              <a:t>departamento</a:t>
            </a:r>
            <a:r>
              <a:rPr b="0" dirty="0">
                <a:solidFill>
                  <a:srgbClr val="A0AEC0"/>
                </a:solidFill>
              </a:rPr>
              <a:t> del </a:t>
            </a:r>
            <a:r>
              <a:rPr b="0" dirty="0" err="1">
                <a:solidFill>
                  <a:srgbClr val="A0AEC0"/>
                </a:solidFill>
              </a:rPr>
              <a:t>usuario</a:t>
            </a:r>
            <a:r>
              <a:rPr b="0" dirty="0">
                <a:solidFill>
                  <a:srgbClr val="A0AEC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INNOVACIÓN Y CONECTIVIDAD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Ecosistema de Notificaciones Multicanal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Garantizando que ninguna solicitud ni aviso quede sin atender en tiempo real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28800"/>
            <a:ext cx="6858000" cy="132588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  <a:latin typeface="Georgia"/>
              </a:defRPr>
            </a:pPr>
            <a:r>
              <a:rPr dirty="0"/>
              <a:t>🔔 CAMPANITA WEB (IN-APP)  — 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Tiempo Real </a:t>
            </a:r>
            <a:r>
              <a:rPr dirty="0" err="1"/>
              <a:t>en</a:t>
            </a:r>
            <a:r>
              <a:rPr dirty="0"/>
              <a:t> la Plataforma</a:t>
            </a:r>
          </a:p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rPr dirty="0" err="1"/>
              <a:t>Actualizaciones</a:t>
            </a:r>
            <a:r>
              <a:rPr dirty="0"/>
              <a:t> </a:t>
            </a:r>
            <a:r>
              <a:rPr dirty="0" err="1"/>
              <a:t>instantáneas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el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navega</a:t>
            </a:r>
            <a:r>
              <a:rPr dirty="0"/>
              <a:t> (Server-Sent Events). Contador de </a:t>
            </a:r>
            <a:r>
              <a:rPr dirty="0" err="1"/>
              <a:t>notificaciones</a:t>
            </a:r>
            <a:r>
              <a:rPr dirty="0"/>
              <a:t> no </a:t>
            </a:r>
            <a:r>
              <a:rPr dirty="0" err="1"/>
              <a:t>leídas</a:t>
            </a:r>
            <a:r>
              <a:rPr dirty="0"/>
              <a:t> y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 al ticket o aviso.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6858000" cy="132588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456432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4D399"/>
                </a:solidFill>
                <a:latin typeface="Georgia"/>
              </a:defRPr>
            </a:pPr>
            <a:r>
              <a:t>📧 CORREO ELECTRÓNICO  —  Notificaciones Formales y Resúmenes</a:t>
            </a:r>
          </a:p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Envío automático de confirmaciones de apertura, asignación de responsable, cambios de estado y comunicados corporativos directamente a la bandeja.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6858000" cy="132588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B923C"/>
                </a:solidFill>
                <a:latin typeface="Georgia"/>
              </a:defRPr>
            </a:pPr>
            <a:r>
              <a:t>🤖 PACO — BOT DE TELEGRAM  —  Asistente Móvil de Paseo San Francisco</a:t>
            </a:r>
          </a:p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Notificaciones push instantáneas al celular del colaborador o técnico. Ideal para personal operativo y de campo que no está permanentemente frente a una PC.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657600" cy="438912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aco_b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11680"/>
            <a:ext cx="3200400" cy="17439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44348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D4AF37"/>
                </a:solidFill>
                <a:latin typeface="Georgia"/>
              </a:defRPr>
            </a:pPr>
            <a:r>
              <a:t>PACO: Bot Oficial PSF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Conecta a técnicos y colaboradores con alertas críticas en segundos desde Telegram.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IMPACTO Y MÉTRICAS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Resultados Proyectados a 90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Objetivos claros para medir el retorno de la inversión y la mejora en eficiencia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920240"/>
            <a:ext cx="2450592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0848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38BDF8"/>
                </a:solidFill>
                <a:latin typeface="Georgia"/>
              </a:defRPr>
            </a:pPr>
            <a:r>
              <a:t>-40%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Tiempo de Respuesta</a:t>
            </a:r>
          </a:p>
          <a:p>
            <a:pPr algn="ctr">
              <a:defRPr sz="1200">
                <a:solidFill>
                  <a:srgbClr val="A0AEC0"/>
                </a:solidFill>
                <a:latin typeface="Calibri"/>
              </a:defRPr>
            </a:pPr>
            <a:r>
              <a:t>Reducción drástica en el tiempo desde que surge una solicitud hasta la primera atención.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920240"/>
            <a:ext cx="2450592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2194560"/>
            <a:ext cx="20848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34D399"/>
                </a:solidFill>
                <a:latin typeface="Georgia"/>
              </a:defRPr>
            </a:pPr>
            <a:r>
              <a:t>100%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Trazabilidad Total</a:t>
            </a:r>
          </a:p>
          <a:p>
            <a:pPr algn="ctr">
              <a:defRPr sz="1200">
                <a:solidFill>
                  <a:srgbClr val="A0AEC0"/>
                </a:solidFill>
                <a:latin typeface="Calibri"/>
              </a:defRPr>
            </a:pPr>
            <a:r>
              <a:t>Cero requerimientos 'perdidos'; cada solicitud cuenta con folio, historial y responsable.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20240"/>
            <a:ext cx="2450592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194560"/>
            <a:ext cx="20848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D4AF37"/>
                </a:solidFill>
                <a:latin typeface="Georgia"/>
              </a:defRPr>
            </a:pPr>
            <a:r>
              <a:t>&lt; 5%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Canales Informales</a:t>
            </a:r>
          </a:p>
          <a:p>
            <a:pPr algn="ctr">
              <a:defRPr sz="1200">
                <a:solidFill>
                  <a:srgbClr val="A0AEC0"/>
                </a:solidFill>
                <a:latin typeface="Calibri"/>
              </a:defRPr>
            </a:pPr>
            <a:r>
              <a:t>Disminución de solicitudes por WhatsApp y pasillos hacia la plataforma oficial.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920240"/>
            <a:ext cx="2450592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71432" y="2194560"/>
            <a:ext cx="20848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C084FC"/>
                </a:solidFill>
                <a:latin typeface="Georgia"/>
              </a:defRPr>
            </a:pPr>
            <a:r>
              <a:t>&gt; 85%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Tasa de Adopción</a:t>
            </a:r>
          </a:p>
          <a:p>
            <a:pPr algn="ctr">
              <a:defRPr sz="1200">
                <a:solidFill>
                  <a:srgbClr val="A0AEC0"/>
                </a:solidFill>
                <a:latin typeface="Calibri"/>
              </a:defRPr>
            </a:pPr>
            <a:r>
              <a:t>Participación activa de los colaboradores en el primer mes de operación.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Georgia"/>
              </a:defRPr>
            </a:pPr>
            <a:r>
              <a:t>ESTRATEGIA DE LANZAMIENTO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Georgia"/>
              </a:defRPr>
            </a:pPr>
            <a:r>
              <a:t>Plan de Adopción y 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Asegurando una transición fluida y una alta participación de los colaboradores</a:t>
            </a:r>
          </a:p>
        </p:txBody>
      </p:sp>
      <p:pic>
        <p:nvPicPr>
          <p:cNvPr id="5" name="Picture 4" descr="media_1789999192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11480"/>
            <a:ext cx="1645920" cy="92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FASE 1: PREPARACIÓN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Validación &amp; Ajustes</a:t>
            </a:r>
            <a:br/>
            <a:r>
              <a:t>(Días 1 - 5)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Validación de roles y permisos con jefes de área.</a:t>
            </a:r>
            <a:br/>
            <a:r>
              <a:t>• Carga final de formatos oficiales vigentes.</a:t>
            </a:r>
            <a:br/>
            <a:r>
              <a:t>• Configuración de categorías de tickets y SLAs.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210312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FASE 2: SOCIALIZACIÓN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Campaña de Adopción</a:t>
            </a:r>
            <a:br/>
            <a:r>
              <a:t>(Días 7 - 15)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Envío de correos de expectativa (Teasers).</a:t>
            </a:r>
            <a:br/>
            <a:r>
              <a:t>• Publicación de afiches con código QR en áreas clave.</a:t>
            </a:r>
            <a:br/>
            <a:r>
              <a:t>• Micro-capacitaciones prácticas de 15 minutos mediante medios de video en comunicaciones.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94192" y="2103120"/>
            <a:ext cx="277977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AF37"/>
                </a:solidFill>
                <a:latin typeface="Calibri"/>
              </a:defRPr>
            </a:pPr>
            <a:r>
              <a:t>FASE 3: GO-LIVE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Operación &amp; Monitoreo</a:t>
            </a:r>
            <a:br/>
            <a:r>
              <a:t>(Día 30+)</a:t>
            </a:r>
          </a:p>
          <a:p>
            <a:pPr>
              <a:defRPr sz="1300">
                <a:solidFill>
                  <a:srgbClr val="A0AEC0"/>
                </a:solidFill>
                <a:latin typeface="Calibri"/>
              </a:defRPr>
            </a:pPr>
            <a:r>
              <a:t>• Apertura oficial del portal para toda la organización.</a:t>
            </a:r>
            <a:br/>
            <a:r>
              <a:t>• Mesa de soporte activa para resolver dudas iniciales.</a:t>
            </a:r>
            <a:br/>
            <a:r>
              <a:t>• Entrega del primer reporte ejecutivo de métricas.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sf_poster_adopcion_1789999436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3755136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D4AF37"/>
                </a:solidFill>
                <a:latin typeface="Georgia"/>
              </a:defRPr>
            </a:pPr>
            <a:r>
              <a:t>PASEO SAN FRANCISCO</a:t>
            </a:r>
          </a:p>
          <a:p>
            <a:pPr>
              <a:spcAft>
                <a:spcPts val="1800"/>
              </a:spcAft>
              <a:defRPr sz="3000" b="1">
                <a:solidFill>
                  <a:srgbClr val="FFFFFF"/>
                </a:solidFill>
                <a:latin typeface="Georgia"/>
              </a:defRPr>
            </a:pPr>
            <a:r>
              <a:t>Listos para el Lanzamiento Oficial</a:t>
            </a:r>
          </a:p>
          <a:p>
            <a:pPr>
              <a:spcAft>
                <a:spcPts val="2800"/>
              </a:spcAft>
              <a:defRPr sz="1500">
                <a:solidFill>
                  <a:srgbClr val="A0AEC0"/>
                </a:solidFill>
                <a:latin typeface="Calibri"/>
              </a:defRPr>
            </a:pPr>
            <a:r>
              <a:t>Una plataforma diseñada para optimizar los tiempos de respuesta, garantizar el orden operativo y conectar a toda la organización con alertas multicanal.</a:t>
            </a:r>
          </a:p>
          <a:p>
            <a:pPr>
              <a:defRPr sz="1800" b="1">
                <a:solidFill>
                  <a:srgbClr val="38BDF8"/>
                </a:solidFill>
                <a:latin typeface="Georgia"/>
              </a:defRPr>
            </a:pPr>
            <a:r>
              <a:t>¿Preguntas o Comentarios de la Dirección?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1066</Words>
  <Application>Microsoft Macintosh PowerPoint</Application>
  <PresentationFormat>Panorámica</PresentationFormat>
  <Paragraphs>99</Paragraphs>
  <Slides>9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Cosme Soto</cp:lastModifiedBy>
  <cp:revision>2</cp:revision>
  <dcterms:created xsi:type="dcterms:W3CDTF">2013-01-27T09:14:16Z</dcterms:created>
  <dcterms:modified xsi:type="dcterms:W3CDTF">2026-09-22T15:55:38Z</dcterms:modified>
  <cp:category/>
</cp:coreProperties>
</file>